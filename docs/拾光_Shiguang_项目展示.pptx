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25" y="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大家好，今天向大家介绍我的个人项目「拾光」。它是一款 Windows 桌面信息收纳工具，slogan 是"白天拾落花，夜里拾流星"。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拾光解决的核心问题是：把微信里觉得重要但又杂乱的信息，一键收集整合，由 AI 帮你整理好。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它用全局热键一键收纳，结合 AI 分类、看板日历双视图与到期提醒，让重要信息找得到、看得见、不遗忘。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这个项目的起点是我自己真实的使用痛点：我把重要的东西随手发到微信里存着，时间一长就非常杂乱。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主要问题有三个：主题混在一起、短期和长期信息不分、想找的时候翻半天都找不到。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所以"信息存了等于没存"。拾光的核心目标，就是让收藏变成整理，让重要信息找得到、看得见、不遗忘。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拾光是一句很朴素的话就能说清的产品：Windows 桌面信息收纳工具。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它的核心流程是一条闭环：一键收集、AI 整理、双视图查阅、到期提醒。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关键是它不仅支持微信——网页、文档、截图，任何场景复制或拖拽的内容，都能一键收进来。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拾光把最核心的四个能力作为产品支柱：随手可得的收纳入口、不丢信息的 AI 整理、不遗忘的提醒体系、以及全本地的隐私承诺。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第一，悬浮窗加全局热键，让收纳入口无处不在；第二，AI 整理但信息零丢失，有三层保障。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第三，看板日历双视图加到期提醒，重要信息不遗忘；第四，数据全部保存在本地，断网也能正常使用。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收纳和整理是拾光的第一步，也是体验最好的部分。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一步到位收纳：按热键唤起悬浮窗，剪贴板里的文本、图片、文件自动被读取，或者直接把文件拖进去。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 自动分类会识别主题、重要度、效用期和截止日期；聊天记录能被结构化成主观点和分支；图片则保留原始分辨率，不压缩。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收纳整理之后，拾光还要负责让信息"看得见、不遗忘"。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看板和日历双视图随时查阅，到期自动弹 Windows 原生通知；全文搜索覆盖内容、标签、主观点和备注。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公众号链接一键在浏览器打开，文件用系统程序打开；还有暖白和深夜双主题与落花流星的氛围动画，以及托盘常驻、开机自启的独立运行体验。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在讲完产品的理念与功能之后，我们进入产品实拍环节。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这张换气页想传达拾光的品牌气质：把散落的信息，收成看得见的时光。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接下来会展示看板的状态列视图、深夜主题和日历视图的真实截图。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拾光开启后会常驻在桌面右下角的系统托盘，随开机自动启动。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不需要打开任何窗口，也不用开着终端，随时都能看到它。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双击托盘图标即可打开拾光看板，使用非常方便。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任何时候按下 Ctrl+Shift+V，就能唤出拾光悬浮窗。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复制的内容会自动进入悬浮窗，按 Enter 开始整理。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 会自动分析信息，给出主题、重要度、效用期和截止日期建议。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确认无误按 Enter 保存，也可以手动微调后再保存。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保存之后，信息会自动落到看板，变成一张卡片。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卡片自动带好主题、重要度、效用期和截止日期，一眼就能看到。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点击卡片可以查看完整详情，也可以随时编辑或删除。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这是拾光的看板状态列视图，浅色主题，也就是"暖白晨光"模式。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所有收集的信息按待处理、进行中、已完成、已归档四列组织，当前一共 16 条。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顶部提供全文搜索和多维筛选，可以按主题、重要度、效用期、状态筛选；视图可以在状态列、主题列、日历之间一键切换。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这一页展示拾光的深夜主题，也就是"深夜拾光"模式。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和浅色主题同样的四列看板与 16 条信息，切换主题后氛围完全不同：暖金点缀配星空背景。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主题切换不会影响任何数据，状态列、主题列、日历视图也能随时切换。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这是拾光的日历视图，把有截止日期或手动时间锚点的信息铺在日历上。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2026 年 8 月的到期提醒一目了然，26、27、28、29 号都有待办卡片。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日历同样支持暖白晨光和深夜拾光双主题，配合 Windows 原生通知使用，重要信息不遗忘。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拾光的技术选型围绕"轻量、全本地、可离线"展开。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桌面端用 Python 3.13 和 PySide6，内嵌 QtWebEngine 渲染看板；本地服务用 Flask 只监听本机端口。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数据用 SQLite 加文件库存本地；AI 分类接 DeepSeek，断网自动降级为规则分类；OCR 用离线 RapidOCR，整体核心能力不依赖网络。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拾光采用清晰的模块化架构：入口、提醒、存储、分类、悬浮窗采集和 Web 看板各司其职。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代码覆盖 4 套测试套件、共 58 项测试，全部通过，覆盖数据层、聊天记录整理、悬浮窗全流程和到期提醒。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特别说明，测试全部隔离到临时库，不会污染用户的真实数据。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开发过程中遇到了一批很典型的本机应用问题，逐一排查解决，并沉淀为开发日志。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比如全局热键注册成功但消息不派发，经过九轮诊断后改用轮询方案；微信复制不带昵称，就靠纯消息流特征加 AI 语义判断。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提醒列类型不匹配、测试污染真实数据、后台窗口被前台锁定，都通过强转类型、测试隔离和原生 API 置顶解决。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拾光的路线图很清晰：先让软件免安装、双击即用，然后逐步补齐回顾、移动端和备份能力。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当前正在做的是 PyInstaller 打包为独立 exe；AI 每周信息回顾、移动端入口和数据导出备份都在规划中。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整体方向是从"个人好用"走向"人人即用"。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最后回到拾光那句 slogan：白天拾落花，夜里拾流星。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拾光用 MIT 协议开源，代码在 github.com/joeezhzz/shiguang，欢迎任何人使用、反馈和共建。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希望拾光能帮每个人把散落的信息，收成看得见的时光。谢谢大家。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4.svg"/><Relationship Id="rId6" Type="http://schemas.openxmlformats.org/officeDocument/2006/relationships/image" Target="../media/image5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svg"/><Relationship Id="rId4" Type="http://schemas.openxmlformats.org/officeDocument/2006/relationships/image" Target="../media/image7.svg"/><Relationship Id="rId5" Type="http://schemas.openxmlformats.org/officeDocument/2006/relationships/image" Target="../media/image8.svg"/><Relationship Id="rId6" Type="http://schemas.openxmlformats.org/officeDocument/2006/relationships/image" Target="../media/image9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10.svg"/><Relationship Id="rId6" Type="http://schemas.openxmlformats.org/officeDocument/2006/relationships/image" Target="../media/image11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svg"/><Relationship Id="rId4" Type="http://schemas.openxmlformats.org/officeDocument/2006/relationships/image" Target="../media/image12.svg"/><Relationship Id="rId5" Type="http://schemas.openxmlformats.org/officeDocument/2006/relationships/image" Target="../media/image13.svg"/><Relationship Id="rId6" Type="http://schemas.openxmlformats.org/officeDocument/2006/relationships/image" Target="../media/image14.svg"/><Relationship Id="rId7" Type="http://schemas.openxmlformats.org/officeDocument/2006/relationships/image" Target="../media/image15.svg"/><Relationship Id="rId8" Type="http://schemas.openxmlformats.org/officeDocument/2006/relationships/image" Target="../media/image16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D1118">
                  <a:alpha val="30000"/>
                </a:srgbClr>
              </a:gs>
              <a:gs pos="100000">
                <a:srgbClr val="0D1118">
                  <a:alpha val="74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8128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E8B45A"/>
                </a:solidFill>
                <a:latin typeface="Noto Sans SC"/>
                <a:ea typeface="Noto Sans SC"/>
                <a:cs typeface="Noto Sans SC"/>
                <a:sym typeface="Noto Sans SC"/>
              </a:rPr>
              <a:t>SHIGUANG · 项目展示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965200" y="2082800"/>
            <a:ext cx="584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200" b="1" i="0" u="none" strike="noStrike" dirty="0" err="1">
                <a:solidFill>
                  <a:srgbClr val="F2EAD8"/>
                </a:solidFill>
                <a:latin typeface="Noto Serif SC"/>
                <a:ea typeface="Noto Serif SC"/>
                <a:cs typeface="Noto Serif SC"/>
                <a:sym typeface="Noto Serif SC"/>
              </a:rPr>
              <a:t>拾光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041400" y="3962400"/>
            <a:ext cx="584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E8B45A"/>
                </a:solidFill>
                <a:latin typeface="Noto Sans SC"/>
                <a:ea typeface="Noto Sans SC"/>
                <a:cs typeface="Noto Sans SC"/>
                <a:sym typeface="Noto Sans SC"/>
              </a:rPr>
              <a:t>SHIGUANG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41400" y="4673600"/>
            <a:ext cx="7366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100" b="1" i="0" u="none" strike="noStrike">
                <a:solidFill>
                  <a:srgbClr val="F2EAD8"/>
                </a:solidFill>
                <a:latin typeface="Noto Serif SC"/>
                <a:ea typeface="Noto Serif SC"/>
                <a:cs typeface="Noto Serif SC"/>
                <a:sym typeface="Noto Serif SC"/>
              </a:rPr>
              <a:t>白天拾落花，夜里拾流星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41400" y="5308600"/>
            <a:ext cx="812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把散落的信息，一键收进看得见的时光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3861">
            <a:off x="1041413" y="6038850"/>
            <a:ext cx="314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B45A">
                <a:alpha val="7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41400" y="61976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Windows 桌面信息收纳工具 · AI 整理 · 看板 + 日历双视图 · 到期提醒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61976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github.com/joeezhzz/shiguang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572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01 · 背景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016000"/>
            <a:ext cx="660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为什么做这个项目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7743">
            <a:off x="609644" y="1771650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B4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609600" y="2235200"/>
            <a:ext cx="558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F2EAD8"/>
                </a:solidFill>
                <a:latin typeface="Noto Serif SC"/>
                <a:ea typeface="Noto Serif SC"/>
                <a:cs typeface="Noto Serif SC"/>
                <a:sym typeface="Noto Serif SC"/>
              </a:rPr>
              <a:t>「信息存了等于没存」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09600" y="2997200"/>
            <a:ext cx="558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习惯把觉得重要的东西随手发到微信里存着：学习方法、考研保研、竞赛通知、生活小妙招……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时间一长就变得又杂又乱，</a:t>
            </a:r>
            <a:r>
              <a:rPr lang="en-US" sz="1400" b="0" i="0" u="none" strike="noStrike">
                <a:solidFill>
                  <a:srgbClr val="E8B45A"/>
                </a:solidFill>
                <a:latin typeface="Noto Sans SC"/>
                <a:ea typeface="Noto Sans SC"/>
                <a:cs typeface="Noto Sans SC"/>
                <a:sym typeface="Noto Sans SC"/>
              </a:rPr>
              <a:t>信息存了等于没存</a:t>
            </a:r>
            <a:r>
              <a:rPr lang="en-US" sz="140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604000" y="2235200"/>
            <a:ext cx="101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8B45A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112000" y="22606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主题混在一起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112000" y="26670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学习方法、考研保研、竞赛通知</a:t>
            </a:r>
            <a:r>
              <a:rPr lang="en-US" sz="1200" b="0" i="0" u="none" strike="noStrike" dirty="0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……</a:t>
            </a:r>
            <a:r>
              <a:rPr lang="en-US" sz="1200" b="0" i="0" u="none" strike="noStrike" dirty="0" err="1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混在一处</a:t>
            </a:r>
            <a:endParaRPr lang="en-US" sz="1100" dirty="0"/>
          </a:p>
        </p:txBody>
      </p:sp>
      <p:cxnSp>
        <p:nvCxnSpPr>
          <p:cNvPr id="10" name="Connector 10"/>
          <p:cNvCxnSpPr/>
          <p:nvPr/>
        </p:nvCxnSpPr>
        <p:spPr>
          <a:xfrm rot="-8769">
            <a:off x="6604008" y="3244850"/>
            <a:ext cx="4978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4656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604000" y="3429000"/>
            <a:ext cx="101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8B45A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112000" y="34544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短期长期不分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12000" y="38608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有的一时有效、有的长期有用，混在一起难分辨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8769">
            <a:off x="6604008" y="4438650"/>
            <a:ext cx="4978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4656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04000" y="4622800"/>
            <a:ext cx="101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8B45A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112000" y="46482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想找翻半天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112000" y="50546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越重要越不敢删，真要用时却找不到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3978">
            <a:off x="609604" y="5734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4656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09600" y="5943600"/>
            <a:ext cx="1092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让「收藏」变成「整理」，重要信息 </a:t>
            </a:r>
            <a:r>
              <a:rPr lang="en-US" sz="1600" b="1" i="0" u="none" strike="noStrike">
                <a:solidFill>
                  <a:srgbClr val="E8B45A"/>
                </a:solidFill>
                <a:latin typeface="Noto Sans SC"/>
                <a:ea typeface="Noto Sans SC"/>
                <a:cs typeface="Noto Sans SC"/>
                <a:sym typeface="Noto Sans SC"/>
              </a:rPr>
              <a:t>找得到 · 看得见 · 不遗忘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572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02 · 定位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016000"/>
            <a:ext cx="660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拾光是什么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7743">
            <a:off x="609644" y="1771650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B4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609600" y="21336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Windows 桌面信息收纳工具：按下全局热键，把散落的信息一键收进「拾光」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3098800"/>
            <a:ext cx="431800" cy="431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09600" y="3683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一键收集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09600" y="41148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Ctrl+Shift+V 唤出悬浮窗，自动读取剪贴板：文本 / 图片 / 文件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56153">
            <a:off x="3175144" y="3308350"/>
            <a:ext cx="27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B45A">
                <a:alpha val="7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4400" y="3098800"/>
            <a:ext cx="431800" cy="431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454400" y="3683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AI 整理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54400" y="41148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DeepSeek 自动分类、提炼观点，断网自动降级为规则分类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56153">
            <a:off x="6019944" y="3308350"/>
            <a:ext cx="27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B45A">
                <a:alpha val="7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9200" y="3098800"/>
            <a:ext cx="431800" cy="431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299200" y="3683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双视图查阅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99200" y="41148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看板 + 日历双视图，随时查看、编辑、检索卡片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6153">
            <a:off x="8864744" y="3308350"/>
            <a:ext cx="27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B45A">
                <a:alpha val="7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0" y="3098800"/>
            <a:ext cx="431800" cy="431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144000" y="3683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到期提醒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144000" y="41148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Windows 原生通知，重要信息不遗忘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3978">
            <a:off x="609604" y="5454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4656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09600" y="57404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不只微信，任何场景复制的内容，都能一键收纳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572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03 · 亮点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016000"/>
            <a:ext cx="660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四大核心亮点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7743">
            <a:off x="609644" y="1771650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B4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609600" y="2184400"/>
            <a:ext cx="1143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E8B4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7400" y="2286000"/>
            <a:ext cx="381000" cy="381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235200" y="2235200"/>
            <a:ext cx="711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悬浮窗 + 全局热键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35200" y="2692400"/>
            <a:ext cx="863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Ctrl+Shift+V 随时唤出，不局限于微信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3978">
            <a:off x="609604" y="3194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4656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09600" y="3352800"/>
            <a:ext cx="1143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E8B4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47400" y="3454400"/>
            <a:ext cx="381000" cy="381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2235200" y="3403600"/>
            <a:ext cx="711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AI 整理 + 三层保障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235200" y="3860800"/>
            <a:ext cx="863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自动分类提炼观点，原文 100% 保留、预览确认、详情可编辑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3978">
            <a:off x="609604" y="4362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4656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09600" y="4521200"/>
            <a:ext cx="1143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E8B4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47400" y="4622800"/>
            <a:ext cx="381000" cy="381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2235200" y="4572000"/>
            <a:ext cx="787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看板 + 日历 + 到期提醒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235200" y="5029200"/>
            <a:ext cx="863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双视图随时查阅，到期自动弹 Windows 原生通知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3978">
            <a:off x="609604" y="5530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4656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09600" y="5689600"/>
            <a:ext cx="1143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E8B4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04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47400" y="5791200"/>
            <a:ext cx="381000" cy="381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2235200" y="5740400"/>
            <a:ext cx="711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全本地 + 可离线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2235200" y="6197600"/>
            <a:ext cx="863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数据存本机，不读剪贴板，断网 AI 自动降级为规则分类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572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04 · 功能（一）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016000"/>
            <a:ext cx="787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功能特性（一）· 收纳与整理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7743">
            <a:off x="609644" y="1771650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B4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23114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20800" y="23368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一步到位收纳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320800" y="2819400"/>
            <a:ext cx="4572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50" b="0" i="0" u="none" strike="noStrike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全局热键唤出悬浮窗，自动读取剪贴板：文本 / 图片 / 文件，也能直接拖入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250" b="0" i="0" u="none" strike="noStrike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不用手动保存、不用翻文件夹</a:t>
            </a:r>
          </a:p>
        </p:txBody>
      </p:sp>
      <p:cxnSp>
        <p:nvCxnSpPr>
          <p:cNvPr id="8" name="Connector 8"/>
          <p:cNvCxnSpPr/>
          <p:nvPr/>
        </p:nvCxnSpPr>
        <p:spPr>
          <a:xfrm rot="5389519">
            <a:off x="4038600" y="4260860"/>
            <a:ext cx="416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4656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0" y="23114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61200" y="23368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AI 自动分类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061200" y="2819400"/>
            <a:ext cx="4572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50" b="0" i="0" u="none" strike="noStrike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DeepSeek 自动识别主题（6 大类 + 自定义）、重要度（高 / 中 / 低）、效用期、截止日期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3978">
            <a:off x="609604" y="4184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4656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4704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20800" y="44958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聊天记录结构化整理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320800" y="4978400"/>
            <a:ext cx="4572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50" b="0" i="0" u="none" strike="noStrike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识别多轮对话，提炼「主观点」+「分支」（问答 / 补充），原文 100% 保留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44704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061200" y="44958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图片原始保存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061200" y="4978400"/>
            <a:ext cx="4572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50" b="0" i="0" u="none" strike="noStrike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磁盘存原始分辨率，点击放大依然清晰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572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05 · 功能（二）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016000"/>
            <a:ext cx="787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功能特性（二）· 查看与守护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7743">
            <a:off x="609644" y="1771650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B4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23114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219200" y="23368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看板 + 日历双视图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19200" y="2794000"/>
            <a:ext cx="4953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状态列 / 主题列一键切换；日历展示截止日期 + 手动时间锚点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89519">
            <a:off x="4038600" y="4260860"/>
            <a:ext cx="416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4656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0" y="23114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59600" y="23368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到期提醒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959600" y="2794000"/>
            <a:ext cx="4953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Windows 原生通知，全局默认 + 单卡设置，防重复提醒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3978">
            <a:off x="609604" y="3752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4656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39878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219200" y="40132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全文搜索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219200" y="4470400"/>
            <a:ext cx="4953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内容 / 标签 / 主观点 / 备注均可检索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39878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59600" y="40132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链接 / 文件直接打开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959600" y="4470400"/>
            <a:ext cx="4953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公众号链接一键浏览器打开，Word 等文件用系统程序打开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3978">
            <a:off x="609604" y="5429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4656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56642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219200" y="56896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双主题 + 氛围动画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219200" y="61468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暖白晨光 / 深夜拾光一键切换，背景有落花 / 流星 + 星空动画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00" y="56642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59600" y="56896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独立运行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959600" y="61468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托盘常驻 + 开机自启，双击启动即可用，无需一直开着终端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D1118">
                  <a:alpha val="35000"/>
                </a:srgbClr>
              </a:gs>
              <a:gs pos="100000">
                <a:srgbClr val="0D1118">
                  <a:alpha val="78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533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E8B45A"/>
                </a:solidFill>
                <a:latin typeface="Noto Sans SC"/>
                <a:ea typeface="Noto Sans SC"/>
                <a:cs typeface="Noto Sans SC"/>
                <a:sym typeface="Noto Sans SC"/>
              </a:rPr>
              <a:t>PRODUCT · 产品实拍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524000" y="3022600"/>
            <a:ext cx="914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F2EAD8"/>
                </a:solidFill>
                <a:latin typeface="Noto Serif SC"/>
                <a:ea typeface="Noto Serif SC"/>
                <a:cs typeface="Noto Serif SC"/>
                <a:sym typeface="Noto Serif SC"/>
              </a:rPr>
              <a:t>把散落的信息，收成看得见的时光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24000" y="39878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下面进入拾光的真实产品界面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572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06 · 产品实拍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016000"/>
            <a:ext cx="787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产品实拍 · 常驻托盘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7743">
            <a:off x="609644" y="1771650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B4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609600" y="2222500"/>
            <a:ext cx="5994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E8B45A"/>
                </a:solidFill>
                <a:latin typeface="Noto Sans SC"/>
                <a:ea typeface="Noto Sans SC"/>
                <a:cs typeface="Noto Sans SC"/>
                <a:sym typeface="Noto Sans SC"/>
              </a:rPr>
              <a:t>开机即可看到桌面右下角的拾光图标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3641">
            <a:off x="609613" y="2889250"/>
            <a:ext cx="320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B45A">
                <a:alpha val="7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09600" y="3276600"/>
            <a:ext cx="88900" cy="88900"/>
          </a:xfrm>
          <a:prstGeom prst="roundRect">
            <a:avLst>
              <a:gd name="adj" fmla="val 0"/>
            </a:avLst>
          </a:prstGeom>
          <a:solidFill>
            <a:srgbClr val="E8B4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63600" y="3124200"/>
            <a:ext cx="558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5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托盘常驻，随系统开机自动启动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" y="4140200"/>
            <a:ext cx="88900" cy="88900"/>
          </a:xfrm>
          <a:prstGeom prst="roundRect">
            <a:avLst>
              <a:gd name="adj" fmla="val 0"/>
            </a:avLst>
          </a:prstGeom>
          <a:solidFill>
            <a:srgbClr val="E8B4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63600" y="3987800"/>
            <a:ext cx="558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5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双击托盘图标即可打开拾光看板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09600" y="5003800"/>
            <a:ext cx="88900" cy="88900"/>
          </a:xfrm>
          <a:prstGeom prst="roundRect">
            <a:avLst>
              <a:gd name="adj" fmla="val 0"/>
            </a:avLst>
          </a:prstGeom>
          <a:solidFill>
            <a:srgbClr val="E8B4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63600" y="4851400"/>
            <a:ext cx="558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5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后台独立运行，无需打开终端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rcRect t="43" b="43"/>
          <a:stretch>
            <a:fillRect/>
          </a:stretch>
        </p:blipFill>
        <p:spPr>
          <a:xfrm>
            <a:off x="7239000" y="2540000"/>
            <a:ext cx="4318000" cy="3073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7239000" y="58166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右下角系统托盘中的拾光图标</a:t>
            </a:r>
            <a:endParaRPr lang="en-US" sz="1100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1243BAD-9007-59D9-838A-476DC72612C8}"/>
              </a:ext>
            </a:extLst>
          </p:cNvPr>
          <p:cNvCxnSpPr/>
          <p:nvPr/>
        </p:nvCxnSpPr>
        <p:spPr>
          <a:xfrm>
            <a:off x="6797615" y="2076091"/>
            <a:ext cx="954657" cy="9546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572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06 · 产品实拍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016000"/>
            <a:ext cx="787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产品实拍 · 快速收纳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7743">
            <a:off x="609644" y="1771650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B4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56" r="56"/>
          <a:stretch>
            <a:fillRect/>
          </a:stretch>
        </p:blipFill>
        <p:spPr>
          <a:xfrm>
            <a:off x="2641600" y="2184400"/>
            <a:ext cx="3822700" cy="406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77" b="77"/>
          <a:stretch>
            <a:fillRect/>
          </a:stretch>
        </p:blipFill>
        <p:spPr>
          <a:xfrm>
            <a:off x="7112000" y="2184400"/>
            <a:ext cx="2565400" cy="406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7" name="Connector 7"/>
          <p:cNvCxnSpPr/>
          <p:nvPr/>
        </p:nvCxnSpPr>
        <p:spPr>
          <a:xfrm rot="-85925">
            <a:off x="6527879" y="4184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B4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8" name="AutoShape 8"/>
          <p:cNvSpPr/>
          <p:nvPr/>
        </p:nvSpPr>
        <p:spPr>
          <a:xfrm>
            <a:off x="2641600" y="6350000"/>
            <a:ext cx="38227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01 按 Ctrl+Shift+V 唤起悬浮窗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112000" y="6350000"/>
            <a:ext cx="2565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02 按 Enter · AI 自动归类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572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06 · 产品实拍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016000"/>
            <a:ext cx="787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产品实拍 · 自动成卡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7743">
            <a:off x="609644" y="1771650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B4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30" r="30"/>
          <a:stretch>
            <a:fillRect/>
          </a:stretch>
        </p:blipFill>
        <p:spPr>
          <a:xfrm>
            <a:off x="609600" y="1905000"/>
            <a:ext cx="7112000" cy="482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8128000" y="2159000"/>
            <a:ext cx="3454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复制即自动成卡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2638">
            <a:off x="8128012" y="2736850"/>
            <a:ext cx="345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B45A">
                <a:alpha val="7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128000" y="3098800"/>
            <a:ext cx="88900" cy="88900"/>
          </a:xfrm>
          <a:prstGeom prst="roundRect">
            <a:avLst>
              <a:gd name="adj" fmla="val 0"/>
            </a:avLst>
          </a:prstGeom>
          <a:solidFill>
            <a:srgbClr val="E8B4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382000" y="2946400"/>
            <a:ext cx="32004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5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复制的信息自动保存到看板，形成卡片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128000" y="3962400"/>
            <a:ext cx="88900" cy="88900"/>
          </a:xfrm>
          <a:prstGeom prst="roundRect">
            <a:avLst>
              <a:gd name="adj" fmla="val 0"/>
            </a:avLst>
          </a:prstGeom>
          <a:solidFill>
            <a:srgbClr val="E8B4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382000" y="3810000"/>
            <a:ext cx="32004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5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卡片自动带主题 / 重要度 / 效用期 / 截止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4826000"/>
            <a:ext cx="88900" cy="88900"/>
          </a:xfrm>
          <a:prstGeom prst="roundRect">
            <a:avLst>
              <a:gd name="adj" fmla="val 0"/>
            </a:avLst>
          </a:prstGeom>
          <a:solidFill>
            <a:srgbClr val="E8B4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382000" y="4673600"/>
            <a:ext cx="32004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5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点击卡片查看详情，可编辑 / 改状态 / 删除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572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06 · 产品实拍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016000"/>
            <a:ext cx="787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产品实拍 · 看板状态列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7743">
            <a:off x="609644" y="1771650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B4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52" r="52"/>
          <a:stretch>
            <a:fillRect/>
          </a:stretch>
        </p:blipFill>
        <p:spPr>
          <a:xfrm>
            <a:off x="609600" y="1905000"/>
            <a:ext cx="7112000" cy="4813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8128000" y="2159000"/>
            <a:ext cx="3454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浅色主题 · 状态列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2638">
            <a:off x="8128012" y="2736850"/>
            <a:ext cx="345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B45A">
                <a:alpha val="7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128000" y="3098800"/>
            <a:ext cx="88900" cy="88900"/>
          </a:xfrm>
          <a:prstGeom prst="roundRect">
            <a:avLst>
              <a:gd name="adj" fmla="val 0"/>
            </a:avLst>
          </a:prstGeom>
          <a:solidFill>
            <a:srgbClr val="E8B4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382000" y="2946400"/>
            <a:ext cx="32004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5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四列看板：待处理 11 · 进行中 2 · 已完成 2 · 已归档 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128000" y="3962400"/>
            <a:ext cx="88900" cy="88900"/>
          </a:xfrm>
          <a:prstGeom prst="roundRect">
            <a:avLst>
              <a:gd name="adj" fmla="val 0"/>
            </a:avLst>
          </a:prstGeom>
          <a:solidFill>
            <a:srgbClr val="E8B4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382000" y="3810000"/>
            <a:ext cx="32004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5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全文搜索：内容 / 标签 / 图片里的字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4826000"/>
            <a:ext cx="88900" cy="88900"/>
          </a:xfrm>
          <a:prstGeom prst="roundRect">
            <a:avLst>
              <a:gd name="adj" fmla="val 0"/>
            </a:avLst>
          </a:prstGeom>
          <a:solidFill>
            <a:srgbClr val="E8B4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382000" y="4673600"/>
            <a:ext cx="32004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5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多维筛选：主题 · 重要度 · 效用期 · 状态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5689600"/>
            <a:ext cx="88900" cy="88900"/>
          </a:xfrm>
          <a:prstGeom prst="roundRect">
            <a:avLst>
              <a:gd name="adj" fmla="val 0"/>
            </a:avLst>
          </a:prstGeom>
          <a:solidFill>
            <a:srgbClr val="E8B4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382000" y="5537200"/>
            <a:ext cx="32004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5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视图切换：状态列 · 主题列 · 日历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572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06 · 产品实拍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016000"/>
            <a:ext cx="787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产品实拍 · 深夜主题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7743">
            <a:off x="609644" y="1771650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B4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609600" y="1905000"/>
            <a:ext cx="7112000" cy="4787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8128000" y="2159000"/>
            <a:ext cx="3454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深夜主题 · 状态列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2638">
            <a:off x="8128012" y="2736850"/>
            <a:ext cx="345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B45A">
                <a:alpha val="7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128000" y="3098800"/>
            <a:ext cx="88900" cy="88900"/>
          </a:xfrm>
          <a:prstGeom prst="roundRect">
            <a:avLst>
              <a:gd name="adj" fmla="val 0"/>
            </a:avLst>
          </a:prstGeom>
          <a:solidFill>
            <a:srgbClr val="E8B4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382000" y="2946400"/>
            <a:ext cx="32004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5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深夜拾光：暖金点缀 + 星空氛围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128000" y="3962400"/>
            <a:ext cx="88900" cy="88900"/>
          </a:xfrm>
          <a:prstGeom prst="roundRect">
            <a:avLst>
              <a:gd name="adj" fmla="val 0"/>
            </a:avLst>
          </a:prstGeom>
          <a:solidFill>
            <a:srgbClr val="E8B4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382000" y="3810000"/>
            <a:ext cx="32004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5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同样四列看板：待处理 11 · 进行中 2 · 已完成 2 · 已归档 1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4826000"/>
            <a:ext cx="88900" cy="88900"/>
          </a:xfrm>
          <a:prstGeom prst="roundRect">
            <a:avLst>
              <a:gd name="adj" fmla="val 0"/>
            </a:avLst>
          </a:prstGeom>
          <a:solidFill>
            <a:srgbClr val="E8B4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382000" y="4673600"/>
            <a:ext cx="32004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5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双主题一键切换，数据与状态一致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5689600"/>
            <a:ext cx="88900" cy="88900"/>
          </a:xfrm>
          <a:prstGeom prst="roundRect">
            <a:avLst>
              <a:gd name="adj" fmla="val 0"/>
            </a:avLst>
          </a:prstGeom>
          <a:solidFill>
            <a:srgbClr val="E8B4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382000" y="5537200"/>
            <a:ext cx="32004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5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状态列 / 主题列 / 日历 随时切换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572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06 · 产品实拍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016000"/>
            <a:ext cx="787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 dirty="0" err="1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产品实拍</a:t>
            </a:r>
            <a:r>
              <a:rPr lang="en-US" sz="3000" b="1" i="0" u="none" strike="noStrike" dirty="0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3000" b="1" i="0" u="none" strike="noStrike" dirty="0" err="1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日历视图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 rot="-47743">
            <a:off x="609644" y="1771650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B4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304800" y="2095500"/>
            <a:ext cx="56388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19" b="19"/>
          <a:stretch>
            <a:fillRect/>
          </a:stretch>
        </p:blipFill>
        <p:spPr>
          <a:xfrm>
            <a:off x="6223000" y="2095500"/>
            <a:ext cx="56642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304800" y="6096000"/>
            <a:ext cx="5638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浅色主题</a:t>
            </a:r>
            <a:r>
              <a:rPr lang="en-US" sz="1200" b="0" i="0" u="none" strike="noStrike" dirty="0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200" b="0" i="0" u="none" strike="noStrike" dirty="0" err="1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日历视图</a:t>
            </a:r>
            <a:r>
              <a:rPr lang="en-US" sz="1200" b="0" i="0" u="none" strike="noStrike" dirty="0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6223000" y="6096000"/>
            <a:ext cx="5664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深夜主题 · 日历视图 · 到期锚点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572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07 · 技术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016000"/>
            <a:ext cx="660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7743">
            <a:off x="609644" y="1771650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B4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609600" y="2006600"/>
          <a:ext cx="10972800" cy="4241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2EAD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63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2EAD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63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F2EAD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语言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A2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A2AA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Python 3.13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A2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F2EAD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桌面 GUI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151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A2AA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PySide6 6.11（系统托盘 + 悬浮窗 + QtWebEngine 内嵌看板）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151E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F2EAD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本地服务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A2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A2AA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Flask（仅本机 127.0.0.1:8765）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A2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F2EAD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看板前端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151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A2AA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原生 HTML / CSS / JS + Canvas 动画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151E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F2EAD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数据存储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A2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A2AA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SQLite + 文件库（全本地）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A2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F2EAD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 分类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151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A2AA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DeepSeek API（断网自动降级为规则分类）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151E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F2EAD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OCR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A2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A2AA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RapidOCR（离线备用）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A2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609600" y="6375400"/>
            <a:ext cx="10972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数据全部存本机，断网时 AI 自动降级为规则分类，功能不受影响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572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07 · 技术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016000"/>
            <a:ext cx="660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架构与工程质量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7743">
            <a:off x="609644" y="1771650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B4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609600" y="21336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8B45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项目结构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09600" y="2717800"/>
            <a:ext cx="63500" cy="63500"/>
          </a:xfrm>
          <a:prstGeom prst="roundRect">
            <a:avLst>
              <a:gd name="adj" fmla="val 0"/>
            </a:avLst>
          </a:prstGeom>
          <a:solidFill>
            <a:srgbClr val="E8B4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12800" y="25908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main.py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2800" y="2895600"/>
            <a:ext cx="609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入口：托盘 + 全局热键 + 悬浮窗 + 内嵌看板 + 提醒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" y="3403600"/>
            <a:ext cx="63500" cy="63500"/>
          </a:xfrm>
          <a:prstGeom prst="roundRect">
            <a:avLst>
              <a:gd name="adj" fmla="val 0"/>
            </a:avLst>
          </a:prstGeom>
          <a:solidFill>
            <a:srgbClr val="E8B4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12800" y="32766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reminder.py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" y="3581400"/>
            <a:ext cx="609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到期提醒（防重复、Windows 通知）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09600" y="4089400"/>
            <a:ext cx="63500" cy="63500"/>
          </a:xfrm>
          <a:prstGeom prst="roundRect">
            <a:avLst>
              <a:gd name="adj" fmla="val 0"/>
            </a:avLst>
          </a:prstGeom>
          <a:solidFill>
            <a:srgbClr val="E8B4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12800" y="39624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storage / db.py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" y="4267200"/>
            <a:ext cx="609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SQLite 数据层 + 文件库 + 设置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09600" y="4775200"/>
            <a:ext cx="63500" cy="63500"/>
          </a:xfrm>
          <a:prstGeom prst="roundRect">
            <a:avLst>
              <a:gd name="adj" fmla="val 0"/>
            </a:avLst>
          </a:prstGeom>
          <a:solidFill>
            <a:srgbClr val="E8B4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12800" y="46482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classifier / classifier.py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" y="4953000"/>
            <a:ext cx="609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DeepSeek AI 分类 + 聊天整理 + 规则降级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09600" y="5461000"/>
            <a:ext cx="63500" cy="63500"/>
          </a:xfrm>
          <a:prstGeom prst="roundRect">
            <a:avLst>
              <a:gd name="adj" fmla="val 0"/>
            </a:avLst>
          </a:prstGeom>
          <a:solidFill>
            <a:srgbClr val="E8B4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12800" y="53340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collector / floatwindow.py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2800" y="5638800"/>
            <a:ext cx="609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悬浮窗（录入 → AI 分析 → 预览确认）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09600" y="6146800"/>
            <a:ext cx="63500" cy="63500"/>
          </a:xfrm>
          <a:prstGeom prst="roundRect">
            <a:avLst>
              <a:gd name="adj" fmla="val 0"/>
            </a:avLst>
          </a:prstGeom>
          <a:solidFill>
            <a:srgbClr val="E8B4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12800" y="60198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web /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12800" y="6324600"/>
            <a:ext cx="609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Flask 服务 + 看板前端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0" y="21336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8B45A"/>
                </a:solidFill>
                <a:latin typeface="Noto Sans SC"/>
                <a:ea typeface="Noto Sans SC"/>
                <a:cs typeface="Noto Sans SC"/>
                <a:sym typeface="Noto Sans SC"/>
              </a:rPr>
              <a:t>测试与质量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0" y="2540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E8B45A"/>
                </a:solidFill>
                <a:latin typeface="Noto Serif SC"/>
                <a:ea typeface="Noto Serif SC"/>
                <a:cs typeface="Noto Serif SC"/>
                <a:sym typeface="Noto Serif SC"/>
              </a:rPr>
              <a:t>58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0" y="39878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项测试全部通过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11018">
            <a:off x="7620010" y="4514850"/>
            <a:ext cx="396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4656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7620000" y="47244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8B45A"/>
                </a:solidFill>
                <a:latin typeface="Noto Sans SC"/>
                <a:ea typeface="Noto Sans SC"/>
                <a:cs typeface="Noto Sans SC"/>
                <a:sym typeface="Noto Sans SC"/>
              </a:rPr>
              <a:t>4 套测试套件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620000" y="5130800"/>
            <a:ext cx="3962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25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数据层 · 聊天记录整理 · 悬浮窗全流程 · 到期提醒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620000" y="6146800"/>
            <a:ext cx="396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测试全部隔离到临时库，不污染真实数据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572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08 · 工程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016000"/>
            <a:ext cx="660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开发排障实录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7743">
            <a:off x="609644" y="1771650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B4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609600" y="2159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全局热键失灵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54600" y="2209800"/>
            <a:ext cx="38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8B45A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88000" y="2108200"/>
            <a:ext cx="5994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166"/>
              </a:lnSpc>
              <a:defRPr/>
            </a:pPr>
            <a:r>
              <a:rPr lang="en-US" sz="125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RegisterHotKey 注册成功但 Qt 不派发 WM_HOTKEY（9 轮诊断）→ 改用 GetAsyncKeyState 轮询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3978">
            <a:off x="609604" y="2889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4656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09600" y="3048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微信复制不带昵称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54600" y="3098800"/>
            <a:ext cx="38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8B45A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588000" y="2997200"/>
            <a:ext cx="5994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166"/>
              </a:lnSpc>
              <a:defRPr/>
            </a:pPr>
            <a:r>
              <a:rPr lang="en-US" sz="125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聊天记录无法按「人名：内容」解析 → 纯消息流特征识别 + AI 语义判断问答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3978">
            <a:off x="609604" y="3778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4656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09600" y="3937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提醒功能静默失效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054600" y="3987800"/>
            <a:ext cx="38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8B45A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588000" y="3886200"/>
            <a:ext cx="5994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166"/>
              </a:lnSpc>
              <a:defRPr/>
            </a:pPr>
            <a:r>
              <a:rPr lang="en-US" sz="125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旧库 ALTER TABLE 加的列是 TEXT，与整数比较崩溃 → 读取一律 int() 强转 + 补兼容测试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3978">
            <a:off x="609604" y="4667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4656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09600" y="4826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测试污染真实数据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054600" y="4876800"/>
            <a:ext cx="38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8B45A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588000" y="4775200"/>
            <a:ext cx="5994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166"/>
              </a:lnSpc>
              <a:defRPr/>
            </a:pPr>
            <a:r>
              <a:rPr lang="en-US" sz="125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测试脚本把用户的提醒设置写成了关闭 → 测试全部隔离到临时库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3978">
            <a:off x="609604" y="5556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4656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09600" y="5715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独立运行的窗口被“吞”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054600" y="5765800"/>
            <a:ext cx="38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8B45A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588000" y="5664200"/>
            <a:ext cx="5994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166"/>
              </a:lnSpc>
              <a:defRPr/>
            </a:pPr>
            <a:r>
              <a:rPr lang="en-US" sz="125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后台启动的进程弹窗被 Windows 前台锁定阻止 → 原生 API 强制置顶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09600" y="6451600"/>
            <a:ext cx="762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 dirty="0" err="1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完整排障过程记录在</a:t>
            </a:r>
            <a:r>
              <a:rPr lang="en-US" sz="1100" b="0" i="0" u="none" strike="noStrike" dirty="0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 docs/</a:t>
            </a:r>
            <a:r>
              <a:rPr lang="en-US" sz="1100" b="0" i="0" u="none" strike="noStrike" dirty="0" err="1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devlog</a:t>
            </a:r>
            <a:r>
              <a:rPr lang="en-US" sz="1100" b="0" i="0" u="none" strike="noStrike" dirty="0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572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09 · 规划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016000"/>
            <a:ext cx="660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路线图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7743">
            <a:off x="609644" y="1771650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B4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609600" y="2489200"/>
            <a:ext cx="114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8B4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09600" y="30226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打包为独立 exe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09600" y="34798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PyInstaller 免安装打包，任何人双击即用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09600" y="4470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E8B45A"/>
                </a:solidFill>
                <a:latin typeface="Noto Sans SC"/>
                <a:ea typeface="Noto Sans SC"/>
                <a:cs typeface="Noto Sans SC"/>
                <a:sym typeface="Noto Sans SC"/>
              </a:rPr>
              <a:t>进行中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556000" y="2489200"/>
            <a:ext cx="114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8B4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56000" y="30226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AI 每周信息回顾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56000" y="34798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自动总结本周收纳的内容，形成周报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556000" y="4470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规划中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02400" y="2489200"/>
            <a:ext cx="114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8B4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02400" y="30226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移动端入口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502400" y="34798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微信转发即可收纳，随时随手收集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02400" y="4470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规划中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448800" y="2489200"/>
            <a:ext cx="114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8B4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448800" y="30226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2EAD8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数据导出 / 备份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448800" y="34798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>
                <a:solidFill>
                  <a:srgbClr val="A2AABA"/>
                </a:solidFill>
                <a:latin typeface="Noto Sans SC"/>
                <a:ea typeface="Noto Sans SC"/>
                <a:cs typeface="Noto Sans SC"/>
                <a:sym typeface="Noto Sans SC"/>
              </a:rPr>
              <a:t>本地数据一键导出与备份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448800" y="4470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规划中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3978">
            <a:off x="609604" y="5327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4656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09600" y="56134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从「个人好用」走向「人人即用」：</a:t>
            </a:r>
            <a:r>
              <a:rPr lang="en-US" sz="1400" b="0" i="0" u="none" strike="noStrike">
                <a:solidFill>
                  <a:srgbClr val="E8B45A"/>
                </a:solidFill>
                <a:latin typeface="Noto Sans SC"/>
                <a:ea typeface="Noto Sans SC"/>
                <a:cs typeface="Noto Sans SC"/>
                <a:sym typeface="Noto Sans SC"/>
              </a:rPr>
              <a:t>免安装、跨端、可备份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D1118">
                  <a:alpha val="30000"/>
                </a:srgbClr>
              </a:gs>
              <a:gs pos="100000">
                <a:srgbClr val="0D1118">
                  <a:alpha val="8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533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E8B45A"/>
                </a:solidFill>
                <a:latin typeface="Noto Sans SC"/>
                <a:ea typeface="Noto Sans SC"/>
                <a:cs typeface="Noto Sans SC"/>
                <a:sym typeface="Noto Sans SC"/>
              </a:rPr>
              <a:t>THANKS · 谢谢观看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651000" y="2489200"/>
            <a:ext cx="889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2EAD8"/>
                </a:solidFill>
                <a:latin typeface="Noto Serif SC"/>
                <a:ea typeface="Noto Serif SC"/>
                <a:cs typeface="Noto Serif SC"/>
                <a:sym typeface="Noto Serif SC"/>
              </a:rPr>
              <a:t>拾光 · Shiguang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651000" y="3581400"/>
            <a:ext cx="889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300" b="1" i="0" u="none" strike="noStrike">
                <a:solidFill>
                  <a:srgbClr val="F2EAD8"/>
                </a:solidFill>
                <a:latin typeface="Noto Serif SC"/>
                <a:ea typeface="Noto Serif SC"/>
                <a:cs typeface="Noto Serif SC"/>
                <a:sym typeface="Noto Serif SC"/>
              </a:rPr>
              <a:t>把散落的信息，收成看得见的时光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28647">
            <a:off x="5334026" y="44132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B45A">
                <a:alpha val="8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651000" y="47244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AC1CF"/>
                </a:solidFill>
                <a:latin typeface="Noto Sans SC"/>
                <a:ea typeface="Noto Sans SC"/>
                <a:cs typeface="Noto Sans SC"/>
                <a:sym typeface="Noto Sans SC"/>
              </a:rPr>
              <a:t>MIT License · 开源地址 github.com/joeezhzz/shiguang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651000" y="54610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A93A6"/>
                </a:solidFill>
                <a:latin typeface="Noto Sans SC"/>
                <a:ea typeface="Noto Sans SC"/>
                <a:cs typeface="Noto Sans SC"/>
                <a:sym typeface="Noto Sans SC"/>
              </a:rPr>
              <a:t>白天拾落花，夜里拾流星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1327</Words>
  <Application>Microsoft Office PowerPoint</Application>
  <PresentationFormat>宽屏</PresentationFormat>
  <Paragraphs>284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Noto Sans SC</vt:lpstr>
      <vt:lpstr>Noto Serif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海舟 张</cp:lastModifiedBy>
  <cp:revision>2</cp:revision>
  <dcterms:modified xsi:type="dcterms:W3CDTF">2026-08-28T16:27:45Z</dcterms:modified>
</cp:coreProperties>
</file>